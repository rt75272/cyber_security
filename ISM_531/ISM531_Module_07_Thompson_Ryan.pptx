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6858000" cx="12192000"/>
  <p:notesSz cx="6858000" cy="9144000"/>
  <p:embeddedFontLst>
    <p:embeddedFont>
      <p:font typeface="Roboto Medium"/>
      <p:regular r:id="rId20"/>
      <p:bold r:id="rId21"/>
      <p:italic r:id="rId22"/>
      <p:boldItalic r:id="rId23"/>
    </p:embeddedFont>
    <p:embeddedFont>
      <p:font typeface="Roboto"/>
      <p:regular r:id="rId24"/>
      <p:bold r:id="rId25"/>
      <p:italic r:id="rId26"/>
      <p:boldItalic r:id="rId27"/>
    </p:embeddedFont>
    <p:embeddedFont>
      <p:font typeface="Montserrat"/>
      <p:regular r:id="rId28"/>
      <p:bold r:id="rId29"/>
      <p:italic r:id="rId30"/>
      <p:boldItalic r:id="rId31"/>
    </p:embeddedFont>
    <p:embeddedFont>
      <p:font typeface="Roboto Light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C62DD7C-C51E-48DC-B92F-C623BE71EDA6}">
  <a:tblStyle styleId="{1C62DD7C-C51E-48DC-B92F-C623BE71EDA6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Medium-regular.fntdata"/><Relationship Id="rId22" Type="http://schemas.openxmlformats.org/officeDocument/2006/relationships/font" Target="fonts/RobotoMedium-italic.fntdata"/><Relationship Id="rId21" Type="http://schemas.openxmlformats.org/officeDocument/2006/relationships/font" Target="fonts/RobotoMedium-bold.fntdata"/><Relationship Id="rId24" Type="http://schemas.openxmlformats.org/officeDocument/2006/relationships/font" Target="fonts/Roboto-regular.fntdata"/><Relationship Id="rId23" Type="http://schemas.openxmlformats.org/officeDocument/2006/relationships/font" Target="fonts/RobotoMedium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Roboto-italic.fntdata"/><Relationship Id="rId25" Type="http://schemas.openxmlformats.org/officeDocument/2006/relationships/font" Target="fonts/Roboto-bold.fntdata"/><Relationship Id="rId28" Type="http://schemas.openxmlformats.org/officeDocument/2006/relationships/font" Target="fonts/Montserrat-regular.fntdata"/><Relationship Id="rId27" Type="http://schemas.openxmlformats.org/officeDocument/2006/relationships/font" Target="fonts/Roboto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Montserrat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Montserrat-boldItalic.fntdata"/><Relationship Id="rId30" Type="http://schemas.openxmlformats.org/officeDocument/2006/relationships/font" Target="fonts/Montserrat-italic.fntdata"/><Relationship Id="rId11" Type="http://schemas.openxmlformats.org/officeDocument/2006/relationships/slide" Target="slides/slide5.xml"/><Relationship Id="rId33" Type="http://schemas.openxmlformats.org/officeDocument/2006/relationships/font" Target="fonts/RobotoLight-bold.fntdata"/><Relationship Id="rId10" Type="http://schemas.openxmlformats.org/officeDocument/2006/relationships/slide" Target="slides/slide4.xml"/><Relationship Id="rId32" Type="http://schemas.openxmlformats.org/officeDocument/2006/relationships/font" Target="fonts/RobotoLight-regular.fntdata"/><Relationship Id="rId13" Type="http://schemas.openxmlformats.org/officeDocument/2006/relationships/slide" Target="slides/slide7.xml"/><Relationship Id="rId35" Type="http://schemas.openxmlformats.org/officeDocument/2006/relationships/font" Target="fonts/RobotoLight-boldItalic.fntdata"/><Relationship Id="rId12" Type="http://schemas.openxmlformats.org/officeDocument/2006/relationships/slide" Target="slides/slide6.xml"/><Relationship Id="rId34" Type="http://schemas.openxmlformats.org/officeDocument/2006/relationships/font" Target="fonts/RobotoLight-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Relationship Id="rId4" Type="http://schemas.openxmlformats.org/officeDocument/2006/relationships/image" Target="../media/image4.png"/><Relationship Id="rId5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Relationship Id="rId4" Type="http://schemas.openxmlformats.org/officeDocument/2006/relationships/image" Target="../media/image6.png"/><Relationship Id="rId5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image" Target="../media/image2.png"/><Relationship Id="rId5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2.png"/><Relationship Id="rId5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Relationship Id="rId4" Type="http://schemas.openxmlformats.org/officeDocument/2006/relationships/image" Target="../media/image3.png"/><Relationship Id="rId9" Type="http://schemas.openxmlformats.org/officeDocument/2006/relationships/image" Target="../media/image18.png"/><Relationship Id="rId5" Type="http://schemas.openxmlformats.org/officeDocument/2006/relationships/image" Target="../media/image13.png"/><Relationship Id="rId6" Type="http://schemas.openxmlformats.org/officeDocument/2006/relationships/image" Target="../media/image16.png"/><Relationship Id="rId7" Type="http://schemas.openxmlformats.org/officeDocument/2006/relationships/image" Target="../media/image15.png"/><Relationship Id="rId8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Relationship Id="rId4" Type="http://schemas.openxmlformats.org/officeDocument/2006/relationships/image" Target="../media/image1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Relationship Id="rId4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Relationship Id="rId4" Type="http://schemas.openxmlformats.org/officeDocument/2006/relationships/image" Target="../media/image2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Relationship Id="rId4" Type="http://schemas.openxmlformats.org/officeDocument/2006/relationships/image" Target="../media/image21.png"/><Relationship Id="rId5" Type="http://schemas.openxmlformats.org/officeDocument/2006/relationships/image" Target="../media/image19.png"/><Relationship Id="rId6" Type="http://schemas.openxmlformats.org/officeDocument/2006/relationships/image" Target="../media/image23.png"/><Relationship Id="rId7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4491037" y="1649908"/>
            <a:ext cx="320992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Roboto Light"/>
                <a:ea typeface="Roboto Light"/>
                <a:cs typeface="Roboto Light"/>
                <a:sym typeface="Roboto Light"/>
              </a:rPr>
              <a:t>Strategic Infrastructure Planning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95275" y="2528651"/>
            <a:ext cx="11601600" cy="15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SECURITY </a:t>
            </a:r>
            <a:r>
              <a:rPr b="1" i="0" lang="en-US" sz="4800" u="none" cap="none" strike="noStrike">
                <a:solidFill>
                  <a:srgbClr val="3B82F6"/>
                </a:solidFill>
                <a:latin typeface="Montserrat"/>
                <a:ea typeface="Montserrat"/>
                <a:cs typeface="Montserrat"/>
                <a:sym typeface="Montserrat"/>
              </a:rPr>
              <a:t>BENCHMARKS</a:t>
            </a:r>
            <a:r>
              <a:rPr b="1" i="0" lang="en-US" sz="48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&amp; FRAMEWORKS</a:t>
            </a:r>
            <a:endParaRPr/>
          </a:p>
        </p:txBody>
      </p:sp>
      <p:sp>
        <p:nvSpPr>
          <p:cNvPr id="88" name="Google Shape;88;p13"/>
          <p:cNvSpPr/>
          <p:nvPr/>
        </p:nvSpPr>
        <p:spPr>
          <a:xfrm>
            <a:off x="5619750" y="3928020"/>
            <a:ext cx="9525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3233737" y="4347120"/>
            <a:ext cx="572452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Roboto Light"/>
                <a:ea typeface="Roboto Light"/>
                <a:cs typeface="Roboto Light"/>
                <a:sym typeface="Roboto Light"/>
              </a:rPr>
              <a:t>Prepared for the Management Team | Riyadh Health Clinic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3924300" y="4903291"/>
            <a:ext cx="4343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Roboto Medium"/>
                <a:ea typeface="Roboto Medium"/>
                <a:cs typeface="Roboto Medium"/>
                <a:sym typeface="Roboto Medium"/>
              </a:rPr>
              <a:t>Presented by: Chief Information Technology Officer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5" name="Google Shape;9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762000" y="571500"/>
            <a:ext cx="5000625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1F5F9"/>
                </a:solidFill>
                <a:latin typeface="Montserrat"/>
                <a:ea typeface="Montserrat"/>
                <a:cs typeface="Montserrat"/>
                <a:sym typeface="Montserrat"/>
              </a:rPr>
              <a:t>EXECUTIVE OVERVIEW</a:t>
            </a:r>
            <a:endParaRPr/>
          </a:p>
        </p:txBody>
      </p:sp>
      <p:sp>
        <p:nvSpPr>
          <p:cNvPr id="97" name="Google Shape;97;p14"/>
          <p:cNvSpPr/>
          <p:nvPr/>
        </p:nvSpPr>
        <p:spPr>
          <a:xfrm>
            <a:off x="571500" y="571500"/>
            <a:ext cx="57150" cy="46672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98" name="Google Shape;98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571500" y="2509837"/>
            <a:ext cx="4953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As we scale our Riyadh facility, our digital dependence increases. This presentation aims to define our path toward operational excellence through: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571500" y="3709987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333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Establishing clear security baselines.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571500" y="4205287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333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Evaluating ISO 27001 vs. NIST CSF.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571500" y="4700587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333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Selecting a strategic roadmap for adoption.</a:t>
            </a:r>
            <a:endParaRPr/>
          </a:p>
        </p:txBody>
      </p:sp>
      <p:pic>
        <p:nvPicPr>
          <p:cNvPr descr="image.png" id="103" name="Google Shape;103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76237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25767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752975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0" name="Google Shape;11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66975"/>
            <a:ext cx="5286375" cy="2771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619375"/>
            <a:ext cx="5286375" cy="2466975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/>
          <p:cNvSpPr txBox="1"/>
          <p:nvPr/>
        </p:nvSpPr>
        <p:spPr>
          <a:xfrm>
            <a:off x="962025" y="2857500"/>
            <a:ext cx="473059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60A5FA"/>
                </a:solidFill>
                <a:latin typeface="Montserrat"/>
                <a:ea typeface="Montserrat"/>
                <a:cs typeface="Montserrat"/>
                <a:sym typeface="Montserrat"/>
              </a:rPr>
              <a:t>Standardized Baselines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962025" y="3324225"/>
            <a:ext cx="4505325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Security benchmarks are documented, community-vetted best practices and configurations used to measure the security maturity of an organization. They serve as the "Measuring Stick" for our clinic's IT infrastructure.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6724650" y="3009900"/>
            <a:ext cx="473059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60A5FA"/>
                </a:solidFill>
                <a:latin typeface="Montserrat"/>
                <a:ea typeface="Montserrat"/>
                <a:cs typeface="Montserrat"/>
                <a:sym typeface="Montserrat"/>
              </a:rPr>
              <a:t>Operational Purpose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6724650" y="3476625"/>
            <a:ext cx="4505325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By adopting benchmarks, we move from reactive "fire-fighting" to proactive governance. This ensures compliance with local Riyadh health regulations while aligning with global security expectations.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762000" y="571500"/>
            <a:ext cx="11401425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1F5F9"/>
                </a:solidFill>
                <a:latin typeface="Montserrat"/>
                <a:ea typeface="Montserrat"/>
                <a:cs typeface="Montserrat"/>
                <a:sym typeface="Montserrat"/>
              </a:rPr>
              <a:t>WHAT ARE SECURITY BENCHMARKS?</a:t>
            </a:r>
            <a:endParaRPr/>
          </a:p>
        </p:txBody>
      </p:sp>
      <p:sp>
        <p:nvSpPr>
          <p:cNvPr id="118" name="Google Shape;118;p15"/>
          <p:cNvSpPr/>
          <p:nvPr/>
        </p:nvSpPr>
        <p:spPr>
          <a:xfrm>
            <a:off x="571500" y="571500"/>
            <a:ext cx="57150" cy="46672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3" name="Google Shape;12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947862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6"/>
          <p:cNvSpPr txBox="1"/>
          <p:nvPr/>
        </p:nvSpPr>
        <p:spPr>
          <a:xfrm>
            <a:off x="571500" y="2457450"/>
            <a:ext cx="555069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60A5FA"/>
                </a:solidFill>
                <a:latin typeface="Montserrat"/>
                <a:ea typeface="Montserrat"/>
                <a:cs typeface="Montserrat"/>
                <a:sym typeface="Montserrat"/>
              </a:rPr>
              <a:t>Information Security Management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571500" y="2924175"/>
            <a:ext cx="5286375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ISO 27001 focuses on establishing a robust **Information Security Management System (ISMS)**. It is less about specific tools and more about management processes, governance, and continuous improvement.</a:t>
            </a:r>
            <a:endParaRPr/>
          </a:p>
        </p:txBody>
      </p:sp>
      <p:pic>
        <p:nvPicPr>
          <p:cNvPr descr="image.png" id="127" name="Google Shape;127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1957387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6"/>
          <p:cNvSpPr txBox="1"/>
          <p:nvPr/>
        </p:nvSpPr>
        <p:spPr>
          <a:xfrm>
            <a:off x="742950" y="433387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809625" y="4333875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Globally recognized certification.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742950" y="463867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809625" y="4638675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Requires mandatory third-party audits.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742950" y="494347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809625" y="4943475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High-level control clauses (4-10) and Annex A (93 controls).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762000" y="571500"/>
            <a:ext cx="11401425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1F5F9"/>
                </a:solidFill>
                <a:latin typeface="Montserrat"/>
                <a:ea typeface="Montserrat"/>
                <a:cs typeface="Montserrat"/>
                <a:sym typeface="Montserrat"/>
              </a:rPr>
              <a:t>ISO/IEC 27001: THE GOLD STANDARD</a:t>
            </a:r>
            <a:endParaRPr/>
          </a:p>
        </p:txBody>
      </p:sp>
      <p:sp>
        <p:nvSpPr>
          <p:cNvPr id="135" name="Google Shape;135;p16"/>
          <p:cNvSpPr/>
          <p:nvPr/>
        </p:nvSpPr>
        <p:spPr>
          <a:xfrm>
            <a:off x="571500" y="571500"/>
            <a:ext cx="57150" cy="46672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6"/>
          <p:cNvSpPr txBox="1"/>
          <p:nvPr/>
        </p:nvSpPr>
        <p:spPr>
          <a:xfrm>
            <a:off x="571500" y="6358979"/>
            <a:ext cx="474345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Ref: ISO/IEC. (2022). ISO/IEC 27001 Information security management systems.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1" name="Google Shape;14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947862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7"/>
          <p:cNvSpPr txBox="1"/>
          <p:nvPr/>
        </p:nvSpPr>
        <p:spPr>
          <a:xfrm>
            <a:off x="571500" y="2305050"/>
            <a:ext cx="555069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60A5FA"/>
                </a:solidFill>
                <a:latin typeface="Montserrat"/>
                <a:ea typeface="Montserrat"/>
                <a:cs typeface="Montserrat"/>
                <a:sym typeface="Montserrat"/>
              </a:rPr>
              <a:t>Risk-Based &amp; Outcome-Focused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571500" y="2771775"/>
            <a:ext cx="5286375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The **NIST Cybersecurity Framework (CSF)** provides a common language for managing risk. It is highly flexible, allowing us to pick the controls that matter most to our clinical operations.</a:t>
            </a:r>
            <a:endParaRPr/>
          </a:p>
        </p:txBody>
      </p:sp>
      <p:pic>
        <p:nvPicPr>
          <p:cNvPr descr="image.png" id="145" name="Google Shape;145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1957387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7"/>
          <p:cNvSpPr txBox="1"/>
          <p:nvPr/>
        </p:nvSpPr>
        <p:spPr>
          <a:xfrm>
            <a:off x="742950" y="418147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809625" y="4181475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Core Functions: Identify, Protect, Detect, Respond, Recover, Govern.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742950" y="479107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809625" y="4791075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Implementation Tiers for maturity measurement.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742950" y="509587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809625" y="5095875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Voluntary and outcome-oriented.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762000" y="571500"/>
            <a:ext cx="11401425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1F5F9"/>
                </a:solidFill>
                <a:latin typeface="Montserrat"/>
                <a:ea typeface="Montserrat"/>
                <a:cs typeface="Montserrat"/>
                <a:sym typeface="Montserrat"/>
              </a:rPr>
              <a:t>NIST CSF: THE ADAPTIVE MODEL</a:t>
            </a:r>
            <a:endParaRPr/>
          </a:p>
        </p:txBody>
      </p:sp>
      <p:sp>
        <p:nvSpPr>
          <p:cNvPr id="153" name="Google Shape;153;p17"/>
          <p:cNvSpPr/>
          <p:nvPr/>
        </p:nvSpPr>
        <p:spPr>
          <a:xfrm>
            <a:off x="571500" y="571500"/>
            <a:ext cx="57150" cy="46672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7"/>
          <p:cNvSpPr txBox="1"/>
          <p:nvPr/>
        </p:nvSpPr>
        <p:spPr>
          <a:xfrm>
            <a:off x="571500" y="6358979"/>
            <a:ext cx="376237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Ref: NIST. (2024). The NIST Cybersecurity Framework (CSF) 2.0.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9" name="Google Shape;15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60" name="Google Shape;160;p18"/>
          <p:cNvGraphicFramePr/>
          <p:nvPr/>
        </p:nvGraphicFramePr>
        <p:xfrm>
          <a:off x="571500" y="22574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{1C62DD7C-C51E-48DC-B92F-C623BE71EDA6}</a:tableStyleId>
              </a:tblPr>
              <a:tblGrid>
                <a:gridCol w="2480075"/>
                <a:gridCol w="4290875"/>
                <a:gridCol w="4278075"/>
              </a:tblGrid>
              <a:tr h="563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Feature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ISO/IEC 27001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NIST CSF 2.0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B82F6"/>
                    </a:solidFill>
                  </a:tcPr>
                </a:tc>
              </a:tr>
              <a:tr h="563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E2E8F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Primary Focus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E2E8F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Compliance &amp; Management System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E2E8F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Risk Management &amp; Maturity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3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E2E8F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Certification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E2E8F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Certifiable by Third-Party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E2E8F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Self-Assessment (Non-Certifiable)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563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E2E8F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Flexibility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E2E8F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Prescriptive Requirements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E2E8F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Highly Scalable &amp; Flexible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3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E2E8F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Audience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E2E8F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Auditors &amp; Supply Chain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E2E8F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Executives &amp; Technical Practitioners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563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E2E8F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 to Implement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E2E8F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High (Audit fees + Certification)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E2E8F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Moderate (Internal Resources)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1" name="Google Shape;161;p18"/>
          <p:cNvSpPr/>
          <p:nvPr/>
        </p:nvSpPr>
        <p:spPr>
          <a:xfrm>
            <a:off x="571500" y="3414712"/>
            <a:ext cx="248007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8"/>
          <p:cNvSpPr/>
          <p:nvPr/>
        </p:nvSpPr>
        <p:spPr>
          <a:xfrm>
            <a:off x="3051571" y="3414712"/>
            <a:ext cx="429086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8"/>
          <p:cNvSpPr/>
          <p:nvPr/>
        </p:nvSpPr>
        <p:spPr>
          <a:xfrm>
            <a:off x="7342435" y="3414712"/>
            <a:ext cx="427806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8"/>
          <p:cNvSpPr/>
          <p:nvPr/>
        </p:nvSpPr>
        <p:spPr>
          <a:xfrm>
            <a:off x="571500" y="3967162"/>
            <a:ext cx="248007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8"/>
          <p:cNvSpPr/>
          <p:nvPr/>
        </p:nvSpPr>
        <p:spPr>
          <a:xfrm>
            <a:off x="3051571" y="3967162"/>
            <a:ext cx="429086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8"/>
          <p:cNvSpPr/>
          <p:nvPr/>
        </p:nvSpPr>
        <p:spPr>
          <a:xfrm>
            <a:off x="7342435" y="3967162"/>
            <a:ext cx="427806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8"/>
          <p:cNvSpPr/>
          <p:nvPr/>
        </p:nvSpPr>
        <p:spPr>
          <a:xfrm>
            <a:off x="571500" y="4519612"/>
            <a:ext cx="248007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8"/>
          <p:cNvSpPr/>
          <p:nvPr/>
        </p:nvSpPr>
        <p:spPr>
          <a:xfrm>
            <a:off x="3051571" y="4519612"/>
            <a:ext cx="429086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8"/>
          <p:cNvSpPr/>
          <p:nvPr/>
        </p:nvSpPr>
        <p:spPr>
          <a:xfrm>
            <a:off x="7342435" y="4519612"/>
            <a:ext cx="427806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8"/>
          <p:cNvSpPr/>
          <p:nvPr/>
        </p:nvSpPr>
        <p:spPr>
          <a:xfrm>
            <a:off x="571500" y="5072062"/>
            <a:ext cx="248007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8"/>
          <p:cNvSpPr/>
          <p:nvPr/>
        </p:nvSpPr>
        <p:spPr>
          <a:xfrm>
            <a:off x="3051571" y="5072062"/>
            <a:ext cx="429086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8"/>
          <p:cNvSpPr/>
          <p:nvPr/>
        </p:nvSpPr>
        <p:spPr>
          <a:xfrm>
            <a:off x="7342435" y="5072062"/>
            <a:ext cx="427806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8"/>
          <p:cNvSpPr/>
          <p:nvPr/>
        </p:nvSpPr>
        <p:spPr>
          <a:xfrm>
            <a:off x="571500" y="5624512"/>
            <a:ext cx="248007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8"/>
          <p:cNvSpPr/>
          <p:nvPr/>
        </p:nvSpPr>
        <p:spPr>
          <a:xfrm>
            <a:off x="3051571" y="5624512"/>
            <a:ext cx="429086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8"/>
          <p:cNvSpPr/>
          <p:nvPr/>
        </p:nvSpPr>
        <p:spPr>
          <a:xfrm>
            <a:off x="7342435" y="5624512"/>
            <a:ext cx="427806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8"/>
          <p:cNvSpPr txBox="1"/>
          <p:nvPr/>
        </p:nvSpPr>
        <p:spPr>
          <a:xfrm>
            <a:off x="762000" y="571500"/>
            <a:ext cx="11401425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1F5F9"/>
                </a:solidFill>
                <a:latin typeface="Montserrat"/>
                <a:ea typeface="Montserrat"/>
                <a:cs typeface="Montserrat"/>
                <a:sym typeface="Montserrat"/>
              </a:rPr>
              <a:t>FRAMEWORK COMPARISON MATRIX</a:t>
            </a:r>
            <a:endParaRPr/>
          </a:p>
        </p:txBody>
      </p:sp>
      <p:sp>
        <p:nvSpPr>
          <p:cNvPr id="177" name="Google Shape;177;p18"/>
          <p:cNvSpPr/>
          <p:nvPr/>
        </p:nvSpPr>
        <p:spPr>
          <a:xfrm>
            <a:off x="571500" y="571500"/>
            <a:ext cx="57150" cy="46672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2" name="Google Shape;18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3" name="Google Shape;183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928812"/>
            <a:ext cx="3492549" cy="3848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4" name="Google Shape;184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1928812"/>
            <a:ext cx="3492549" cy="3848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5" name="Google Shape;185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1928812"/>
            <a:ext cx="3492549" cy="38481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9"/>
          <p:cNvSpPr txBox="1"/>
          <p:nvPr/>
        </p:nvSpPr>
        <p:spPr>
          <a:xfrm>
            <a:off x="952500" y="3043237"/>
            <a:ext cx="286707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60A5FA"/>
                </a:solidFill>
                <a:latin typeface="Montserrat"/>
                <a:ea typeface="Montserrat"/>
                <a:cs typeface="Montserrat"/>
                <a:sym typeface="Montserrat"/>
              </a:rPr>
              <a:t>Control Overlap</a:t>
            </a:r>
            <a:endParaRPr/>
          </a:p>
        </p:txBody>
      </p:sp>
      <p:sp>
        <p:nvSpPr>
          <p:cNvPr id="187" name="Google Shape;187;p19"/>
          <p:cNvSpPr txBox="1"/>
          <p:nvPr/>
        </p:nvSpPr>
        <p:spPr>
          <a:xfrm>
            <a:off x="952500" y="3509962"/>
            <a:ext cx="2730549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There is approximately **83% overlap** between the two. Implementing NIST CSF builds a massive foundation for later ISO certification.</a:t>
            </a:r>
            <a:endParaRPr/>
          </a:p>
        </p:txBody>
      </p:sp>
      <p:sp>
        <p:nvSpPr>
          <p:cNvPr id="188" name="Google Shape;188;p19"/>
          <p:cNvSpPr txBox="1"/>
          <p:nvPr/>
        </p:nvSpPr>
        <p:spPr>
          <a:xfrm>
            <a:off x="4730799" y="3043237"/>
            <a:ext cx="2867077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60A5FA"/>
                </a:solidFill>
                <a:latin typeface="Montserrat"/>
                <a:ea typeface="Montserrat"/>
                <a:cs typeface="Montserrat"/>
                <a:sym typeface="Montserrat"/>
              </a:rPr>
              <a:t>Common Language</a:t>
            </a:r>
            <a:endParaRPr/>
          </a:p>
        </p:txBody>
      </p:sp>
      <p:sp>
        <p:nvSpPr>
          <p:cNvPr id="189" name="Google Shape;189;p19"/>
          <p:cNvSpPr txBox="1"/>
          <p:nvPr/>
        </p:nvSpPr>
        <p:spPr>
          <a:xfrm>
            <a:off x="4730799" y="3833812"/>
            <a:ext cx="2730549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NIST CSF speaks to business risk, while ISO provides the audit-ready documentation structure required for global partners.</a:t>
            </a:r>
            <a:endParaRPr/>
          </a:p>
        </p:txBody>
      </p:sp>
      <p:sp>
        <p:nvSpPr>
          <p:cNvPr id="190" name="Google Shape;190;p19"/>
          <p:cNvSpPr txBox="1"/>
          <p:nvPr/>
        </p:nvSpPr>
        <p:spPr>
          <a:xfrm>
            <a:off x="8509099" y="3043237"/>
            <a:ext cx="286707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60A5FA"/>
                </a:solidFill>
                <a:latin typeface="Montserrat"/>
                <a:ea typeface="Montserrat"/>
                <a:cs typeface="Montserrat"/>
                <a:sym typeface="Montserrat"/>
              </a:rPr>
              <a:t>Maturity Path</a:t>
            </a:r>
            <a:endParaRPr/>
          </a:p>
        </p:txBody>
      </p:sp>
      <p:sp>
        <p:nvSpPr>
          <p:cNvPr id="191" name="Google Shape;191;p19"/>
          <p:cNvSpPr txBox="1"/>
          <p:nvPr/>
        </p:nvSpPr>
        <p:spPr>
          <a:xfrm>
            <a:off x="8509099" y="3509962"/>
            <a:ext cx="2730549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Use NIST to find "where we are" and ISO to prove "how well we manage it" to our healthcare regulators.</a:t>
            </a:r>
            <a:endParaRPr/>
          </a:p>
        </p:txBody>
      </p:sp>
      <p:pic>
        <p:nvPicPr>
          <p:cNvPr descr="image.png" id="192" name="Google Shape;192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52500" y="2338387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3" name="Google Shape;193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30799" y="2338387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4" name="Google Shape;194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509099" y="2338387"/>
            <a:ext cx="5143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9"/>
          <p:cNvSpPr txBox="1"/>
          <p:nvPr/>
        </p:nvSpPr>
        <p:spPr>
          <a:xfrm>
            <a:off x="762000" y="571500"/>
            <a:ext cx="11401425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1F5F9"/>
                </a:solidFill>
                <a:latin typeface="Montserrat"/>
                <a:ea typeface="Montserrat"/>
                <a:cs typeface="Montserrat"/>
                <a:sym typeface="Montserrat"/>
              </a:rPr>
              <a:t>HOW THEY WORK TOGETHER</a:t>
            </a:r>
            <a:endParaRPr/>
          </a:p>
        </p:txBody>
      </p:sp>
      <p:sp>
        <p:nvSpPr>
          <p:cNvPr id="196" name="Google Shape;196;p19"/>
          <p:cNvSpPr/>
          <p:nvPr/>
        </p:nvSpPr>
        <p:spPr>
          <a:xfrm>
            <a:off x="571500" y="571500"/>
            <a:ext cx="57150" cy="46672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1" name="Google Shape;20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2" name="Google Shape;202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19225"/>
            <a:ext cx="11049000" cy="4867275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0"/>
          <p:cNvSpPr txBox="1"/>
          <p:nvPr/>
        </p:nvSpPr>
        <p:spPr>
          <a:xfrm>
            <a:off x="571500" y="5033962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Adopting a benchmark will allow us to objectively track these improvements for the Riyadh Health Ministry.</a:t>
            </a:r>
            <a:endParaRPr/>
          </a:p>
        </p:txBody>
      </p:sp>
      <p:sp>
        <p:nvSpPr>
          <p:cNvPr id="204" name="Google Shape;204;p20"/>
          <p:cNvSpPr txBox="1"/>
          <p:nvPr/>
        </p:nvSpPr>
        <p:spPr>
          <a:xfrm>
            <a:off x="762000" y="571500"/>
            <a:ext cx="11401425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1F5F9"/>
                </a:solidFill>
                <a:latin typeface="Montserrat"/>
                <a:ea typeface="Montserrat"/>
                <a:cs typeface="Montserrat"/>
                <a:sym typeface="Montserrat"/>
              </a:rPr>
              <a:t>TARGET MATURITY BENCHMARKING</a:t>
            </a:r>
            <a:endParaRPr/>
          </a:p>
        </p:txBody>
      </p:sp>
      <p:sp>
        <p:nvSpPr>
          <p:cNvPr id="205" name="Google Shape;205;p20"/>
          <p:cNvSpPr/>
          <p:nvPr/>
        </p:nvSpPr>
        <p:spPr>
          <a:xfrm>
            <a:off x="571500" y="571500"/>
            <a:ext cx="57150" cy="46672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0" name="Google Shape;21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1"/>
          <p:cNvSpPr txBox="1"/>
          <p:nvPr/>
        </p:nvSpPr>
        <p:spPr>
          <a:xfrm>
            <a:off x="571500" y="2933700"/>
            <a:ext cx="333375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0" u="none" cap="none" strike="noStrike">
                <a:solidFill>
                  <a:srgbClr val="3B82F6"/>
                </a:solidFill>
                <a:latin typeface="Montserrat"/>
                <a:ea typeface="Montserrat"/>
                <a:cs typeface="Montserrat"/>
                <a:sym typeface="Montserrat"/>
              </a:rPr>
              <a:t>#1</a:t>
            </a:r>
            <a:endParaRPr/>
          </a:p>
        </p:txBody>
      </p:sp>
      <p:sp>
        <p:nvSpPr>
          <p:cNvPr id="212" name="Google Shape;212;p21"/>
          <p:cNvSpPr txBox="1"/>
          <p:nvPr/>
        </p:nvSpPr>
        <p:spPr>
          <a:xfrm>
            <a:off x="571500" y="4457700"/>
            <a:ext cx="33337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8FAFC"/>
                </a:solidFill>
                <a:latin typeface="Roboto Medium"/>
                <a:ea typeface="Roboto Medium"/>
                <a:cs typeface="Roboto Medium"/>
                <a:sym typeface="Roboto Medium"/>
              </a:rPr>
              <a:t>Strategic Choice</a:t>
            </a:r>
            <a:endParaRPr/>
          </a:p>
        </p:txBody>
      </p:sp>
      <p:sp>
        <p:nvSpPr>
          <p:cNvPr id="213" name="Google Shape;213;p21"/>
          <p:cNvSpPr txBox="1"/>
          <p:nvPr/>
        </p:nvSpPr>
        <p:spPr>
          <a:xfrm>
            <a:off x="4476750" y="2771775"/>
            <a:ext cx="701087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60A5FA"/>
                </a:solidFill>
                <a:latin typeface="Montserrat"/>
                <a:ea typeface="Montserrat"/>
                <a:cs typeface="Montserrat"/>
                <a:sym typeface="Montserrat"/>
              </a:rPr>
              <a:t>Why NIST CSF is the Correct First Step:</a:t>
            </a:r>
            <a:endParaRPr/>
          </a:p>
        </p:txBody>
      </p:sp>
      <p:sp>
        <p:nvSpPr>
          <p:cNvPr id="214" name="Google Shape;214;p21"/>
          <p:cNvSpPr txBox="1"/>
          <p:nvPr/>
        </p:nvSpPr>
        <p:spPr>
          <a:xfrm>
            <a:off x="4476750" y="3238500"/>
            <a:ext cx="66770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For a facility of our size, flexibility and speed are critical. NIST CSF allows us to:</a:t>
            </a:r>
            <a:endParaRPr/>
          </a:p>
        </p:txBody>
      </p:sp>
      <p:sp>
        <p:nvSpPr>
          <p:cNvPr id="215" name="Google Shape;215;p21"/>
          <p:cNvSpPr txBox="1"/>
          <p:nvPr/>
        </p:nvSpPr>
        <p:spPr>
          <a:xfrm>
            <a:off x="4476750" y="3733800"/>
            <a:ext cx="66770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**Low Cost:** Free framework with no expensive audit fees.</a:t>
            </a:r>
            <a:endParaRPr/>
          </a:p>
        </p:txBody>
      </p:sp>
      <p:sp>
        <p:nvSpPr>
          <p:cNvPr id="216" name="Google Shape;216;p21"/>
          <p:cNvSpPr txBox="1"/>
          <p:nvPr/>
        </p:nvSpPr>
        <p:spPr>
          <a:xfrm>
            <a:off x="4476750" y="4133850"/>
            <a:ext cx="66770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**Immediate Value:** Identify gaps in weeks, not months.</a:t>
            </a:r>
            <a:endParaRPr/>
          </a:p>
        </p:txBody>
      </p:sp>
      <p:sp>
        <p:nvSpPr>
          <p:cNvPr id="217" name="Google Shape;217;p21"/>
          <p:cNvSpPr txBox="1"/>
          <p:nvPr/>
        </p:nvSpPr>
        <p:spPr>
          <a:xfrm>
            <a:off x="4476750" y="4533900"/>
            <a:ext cx="66770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**Clinical Focus:** Tailor security directly to our physician workflows.</a:t>
            </a:r>
            <a:endParaRPr/>
          </a:p>
        </p:txBody>
      </p:sp>
      <p:pic>
        <p:nvPicPr>
          <p:cNvPr descr="image.png" id="218" name="Google Shape;218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76750" y="378618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9" name="Google Shape;219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76750" y="418623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0" name="Google Shape;220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76750" y="4586287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1"/>
          <p:cNvSpPr txBox="1"/>
          <p:nvPr/>
        </p:nvSpPr>
        <p:spPr>
          <a:xfrm>
            <a:off x="762000" y="571500"/>
            <a:ext cx="11401425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1F5F9"/>
                </a:solidFill>
                <a:latin typeface="Montserrat"/>
                <a:ea typeface="Montserrat"/>
                <a:cs typeface="Montserrat"/>
                <a:sym typeface="Montserrat"/>
              </a:rPr>
              <a:t>RECOMMENDATION: NIST CSF FIRST</a:t>
            </a:r>
            <a:endParaRPr/>
          </a:p>
        </p:txBody>
      </p:sp>
      <p:sp>
        <p:nvSpPr>
          <p:cNvPr id="222" name="Google Shape;222;p21"/>
          <p:cNvSpPr/>
          <p:nvPr/>
        </p:nvSpPr>
        <p:spPr>
          <a:xfrm>
            <a:off x="571500" y="571500"/>
            <a:ext cx="57150" cy="46672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7" name="Google Shape;22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865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2"/>
          <p:cNvSpPr/>
          <p:nvPr/>
        </p:nvSpPr>
        <p:spPr>
          <a:xfrm>
            <a:off x="571500" y="2847975"/>
            <a:ext cx="11049000" cy="381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2"/>
          <p:cNvSpPr txBox="1"/>
          <p:nvPr/>
        </p:nvSpPr>
        <p:spPr>
          <a:xfrm>
            <a:off x="510733" y="2943225"/>
            <a:ext cx="255219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60A5FA"/>
                </a:solidFill>
                <a:latin typeface="Montserrat"/>
                <a:ea typeface="Montserrat"/>
                <a:cs typeface="Montserrat"/>
                <a:sym typeface="Montserrat"/>
              </a:rPr>
              <a:t>Q3 2024: Assess</a:t>
            </a:r>
            <a:endParaRPr/>
          </a:p>
        </p:txBody>
      </p:sp>
      <p:sp>
        <p:nvSpPr>
          <p:cNvPr id="230" name="Google Shape;230;p22"/>
          <p:cNvSpPr txBox="1"/>
          <p:nvPr/>
        </p:nvSpPr>
        <p:spPr>
          <a:xfrm>
            <a:off x="571500" y="3362325"/>
            <a:ext cx="24306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Conduct NIST CSF self-assessment to find existing gaps.</a:t>
            </a:r>
            <a:endParaRPr/>
          </a:p>
        </p:txBody>
      </p:sp>
      <p:sp>
        <p:nvSpPr>
          <p:cNvPr id="231" name="Google Shape;231;p22"/>
          <p:cNvSpPr txBox="1"/>
          <p:nvPr/>
        </p:nvSpPr>
        <p:spPr>
          <a:xfrm>
            <a:off x="3383413" y="2943225"/>
            <a:ext cx="2552193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60A5FA"/>
                </a:solidFill>
                <a:latin typeface="Montserrat"/>
                <a:ea typeface="Montserrat"/>
                <a:cs typeface="Montserrat"/>
                <a:sym typeface="Montserrat"/>
              </a:rPr>
              <a:t>Q4 2024: Implement</a:t>
            </a:r>
            <a:endParaRPr/>
          </a:p>
        </p:txBody>
      </p:sp>
      <p:sp>
        <p:nvSpPr>
          <p:cNvPr id="232" name="Google Shape;232;p22"/>
          <p:cNvSpPr txBox="1"/>
          <p:nvPr/>
        </p:nvSpPr>
        <p:spPr>
          <a:xfrm>
            <a:off x="3444143" y="3362325"/>
            <a:ext cx="24306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Deploy missing controls (Identify &amp; Protect phases).</a:t>
            </a:r>
            <a:endParaRPr/>
          </a:p>
        </p:txBody>
      </p:sp>
      <p:sp>
        <p:nvSpPr>
          <p:cNvPr id="233" name="Google Shape;233;p22"/>
          <p:cNvSpPr txBox="1"/>
          <p:nvPr/>
        </p:nvSpPr>
        <p:spPr>
          <a:xfrm>
            <a:off x="6256094" y="2943225"/>
            <a:ext cx="255219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60A5FA"/>
                </a:solidFill>
                <a:latin typeface="Montserrat"/>
                <a:ea typeface="Montserrat"/>
                <a:cs typeface="Montserrat"/>
                <a:sym typeface="Montserrat"/>
              </a:rPr>
              <a:t>Q2 2025: Formalize</a:t>
            </a:r>
            <a:endParaRPr/>
          </a:p>
        </p:txBody>
      </p:sp>
      <p:sp>
        <p:nvSpPr>
          <p:cNvPr id="234" name="Google Shape;234;p22"/>
          <p:cNvSpPr txBox="1"/>
          <p:nvPr/>
        </p:nvSpPr>
        <p:spPr>
          <a:xfrm>
            <a:off x="6316850" y="3362325"/>
            <a:ext cx="24306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Align NIST outputs with ISO 27001 ISMS requirements.</a:t>
            </a:r>
            <a:endParaRPr/>
          </a:p>
        </p:txBody>
      </p:sp>
      <p:sp>
        <p:nvSpPr>
          <p:cNvPr id="235" name="Google Shape;235;p22"/>
          <p:cNvSpPr txBox="1"/>
          <p:nvPr/>
        </p:nvSpPr>
        <p:spPr>
          <a:xfrm>
            <a:off x="9128774" y="2943225"/>
            <a:ext cx="255219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60A5FA"/>
                </a:solidFill>
                <a:latin typeface="Montserrat"/>
                <a:ea typeface="Montserrat"/>
                <a:cs typeface="Montserrat"/>
                <a:sym typeface="Montserrat"/>
              </a:rPr>
              <a:t>Q4 2025: Certify</a:t>
            </a:r>
            <a:endParaRPr/>
          </a:p>
        </p:txBody>
      </p:sp>
      <p:sp>
        <p:nvSpPr>
          <p:cNvPr id="236" name="Google Shape;236;p22"/>
          <p:cNvSpPr txBox="1"/>
          <p:nvPr/>
        </p:nvSpPr>
        <p:spPr>
          <a:xfrm>
            <a:off x="9189541" y="3362325"/>
            <a:ext cx="243066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Final external audit for ISO 27001 Certification.</a:t>
            </a:r>
            <a:endParaRPr/>
          </a:p>
        </p:txBody>
      </p:sp>
      <p:sp>
        <p:nvSpPr>
          <p:cNvPr id="237" name="Google Shape;237;p22"/>
          <p:cNvSpPr txBox="1"/>
          <p:nvPr/>
        </p:nvSpPr>
        <p:spPr>
          <a:xfrm>
            <a:off x="762000" y="571500"/>
            <a:ext cx="11401425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1F5F9"/>
                </a:solidFill>
                <a:latin typeface="Montserrat"/>
                <a:ea typeface="Montserrat"/>
                <a:cs typeface="Montserrat"/>
                <a:sym typeface="Montserrat"/>
              </a:rPr>
              <a:t>BENCHMARK ADOPTION ROADMAP</a:t>
            </a:r>
            <a:endParaRPr/>
          </a:p>
        </p:txBody>
      </p:sp>
      <p:sp>
        <p:nvSpPr>
          <p:cNvPr id="238" name="Google Shape;238;p22"/>
          <p:cNvSpPr/>
          <p:nvPr/>
        </p:nvSpPr>
        <p:spPr>
          <a:xfrm>
            <a:off x="571500" y="571500"/>
            <a:ext cx="57150" cy="46672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2"/>
          <p:cNvSpPr/>
          <p:nvPr/>
        </p:nvSpPr>
        <p:spPr>
          <a:xfrm>
            <a:off x="1691555" y="4554237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2"/>
          <p:cNvSpPr/>
          <p:nvPr/>
        </p:nvSpPr>
        <p:spPr>
          <a:xfrm>
            <a:off x="4564273" y="4554237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2"/>
          <p:cNvSpPr/>
          <p:nvPr/>
        </p:nvSpPr>
        <p:spPr>
          <a:xfrm>
            <a:off x="7436991" y="4554237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2"/>
          <p:cNvSpPr/>
          <p:nvPr/>
        </p:nvSpPr>
        <p:spPr>
          <a:xfrm>
            <a:off x="10309721" y="4554237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7" name="Google Shape;24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8" name="Google Shape;248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4311848"/>
            <a:ext cx="8572500" cy="179070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3"/>
          <p:cNvSpPr txBox="1"/>
          <p:nvPr/>
        </p:nvSpPr>
        <p:spPr>
          <a:xfrm>
            <a:off x="1809750" y="1603027"/>
            <a:ext cx="8572500" cy="168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3150" u="none" cap="none" strike="noStrike">
                <a:solidFill>
                  <a:srgbClr val="F1F5F9"/>
                </a:solidFill>
                <a:latin typeface="Roboto"/>
                <a:ea typeface="Roboto"/>
                <a:cs typeface="Roboto"/>
                <a:sym typeface="Roboto"/>
              </a:rPr>
              <a:t> Cybersecurity is not just an IT metric; it is the foundation of patient trust in Riyadh's digital healthcare future. </a:t>
            </a:r>
            <a:endParaRPr/>
          </a:p>
        </p:txBody>
      </p:sp>
      <p:sp>
        <p:nvSpPr>
          <p:cNvPr id="250" name="Google Shape;250;p23"/>
          <p:cNvSpPr txBox="1"/>
          <p:nvPr/>
        </p:nvSpPr>
        <p:spPr>
          <a:xfrm>
            <a:off x="4105275" y="3568898"/>
            <a:ext cx="39814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800" u="none" cap="none" strike="noStrike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— Chief Information Technology Officer</a:t>
            </a:r>
            <a:endParaRPr/>
          </a:p>
        </p:txBody>
      </p:sp>
      <p:sp>
        <p:nvSpPr>
          <p:cNvPr id="251" name="Google Shape;251;p23"/>
          <p:cNvSpPr txBox="1"/>
          <p:nvPr/>
        </p:nvSpPr>
        <p:spPr>
          <a:xfrm>
            <a:off x="1238250" y="1222027"/>
            <a:ext cx="36195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0" u="none" cap="none" strike="noStrike">
                <a:solidFill>
                  <a:srgbClr val="3B82F6"/>
                </a:solidFill>
                <a:latin typeface="Roboto"/>
                <a:ea typeface="Roboto"/>
                <a:cs typeface="Roboto"/>
                <a:sym typeface="Roboto"/>
              </a:rPr>
              <a:t>"</a:t>
            </a:r>
            <a:endParaRPr/>
          </a:p>
        </p:txBody>
      </p:sp>
      <p:sp>
        <p:nvSpPr>
          <p:cNvPr id="252" name="Google Shape;252;p23"/>
          <p:cNvSpPr txBox="1"/>
          <p:nvPr/>
        </p:nvSpPr>
        <p:spPr>
          <a:xfrm>
            <a:off x="2095500" y="4597598"/>
            <a:ext cx="8001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Key Takeaways:</a:t>
            </a:r>
            <a:endParaRPr/>
          </a:p>
        </p:txBody>
      </p:sp>
      <p:sp>
        <p:nvSpPr>
          <p:cNvPr id="253" name="Google Shape;253;p23"/>
          <p:cNvSpPr txBox="1"/>
          <p:nvPr/>
        </p:nvSpPr>
        <p:spPr>
          <a:xfrm>
            <a:off x="2095500" y="4902398"/>
            <a:ext cx="8001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• Benchmarks provide the baseline for maturity.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• NIST CSF offers the flexibility we need today.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• ISO 27001 provides the global credibility we want tomorrow.</a:t>
            </a:r>
            <a:endParaRPr/>
          </a:p>
        </p:txBody>
      </p:sp>
      <p:sp>
        <p:nvSpPr>
          <p:cNvPr id="254" name="Google Shape;254;p23"/>
          <p:cNvSpPr txBox="1"/>
          <p:nvPr/>
        </p:nvSpPr>
        <p:spPr>
          <a:xfrm>
            <a:off x="762000" y="571500"/>
            <a:ext cx="11401425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1F5F9"/>
                </a:solidFill>
                <a:latin typeface="Montserrat"/>
                <a:ea typeface="Montserrat"/>
                <a:cs typeface="Montserrat"/>
                <a:sym typeface="Montserrat"/>
              </a:rPr>
              <a:t>STRATEGIC CONCLUSION</a:t>
            </a:r>
            <a:endParaRPr/>
          </a:p>
        </p:txBody>
      </p:sp>
      <p:sp>
        <p:nvSpPr>
          <p:cNvPr id="255" name="Google Shape;255;p23"/>
          <p:cNvSpPr/>
          <p:nvPr/>
        </p:nvSpPr>
        <p:spPr>
          <a:xfrm>
            <a:off x="571500" y="571500"/>
            <a:ext cx="57150" cy="46672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0" name="Google Shape;26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4"/>
          <p:cNvSpPr txBox="1"/>
          <p:nvPr/>
        </p:nvSpPr>
        <p:spPr>
          <a:xfrm>
            <a:off x="295275" y="1898302"/>
            <a:ext cx="1160145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3B82F6"/>
                </a:solidFill>
                <a:latin typeface="Montserrat"/>
                <a:ea typeface="Montserrat"/>
                <a:cs typeface="Montserrat"/>
                <a:sym typeface="Montserrat"/>
              </a:rPr>
              <a:t>Q&amp;A</a:t>
            </a:r>
            <a:endParaRPr/>
          </a:p>
        </p:txBody>
      </p:sp>
      <p:sp>
        <p:nvSpPr>
          <p:cNvPr id="262" name="Google Shape;262;p24"/>
          <p:cNvSpPr txBox="1"/>
          <p:nvPr/>
        </p:nvSpPr>
        <p:spPr>
          <a:xfrm>
            <a:off x="295275" y="3041302"/>
            <a:ext cx="116014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60A5FA"/>
                </a:solidFill>
                <a:latin typeface="Montserrat"/>
                <a:ea typeface="Montserrat"/>
                <a:cs typeface="Montserrat"/>
                <a:sym typeface="Montserrat"/>
              </a:rPr>
              <a:t>Strategic Security Decision-Making</a:t>
            </a:r>
            <a:endParaRPr/>
          </a:p>
        </p:txBody>
      </p:sp>
      <p:sp>
        <p:nvSpPr>
          <p:cNvPr id="263" name="Google Shape;263;p24"/>
          <p:cNvSpPr txBox="1"/>
          <p:nvPr/>
        </p:nvSpPr>
        <p:spPr>
          <a:xfrm>
            <a:off x="571500" y="3508027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Roboto Light"/>
                <a:ea typeface="Roboto Light"/>
                <a:cs typeface="Roboto Light"/>
                <a:sym typeface="Roboto Light"/>
              </a:rPr>
              <a:t>Does the management team have any questions regarding the proposed roadmap or framework selection?</a:t>
            </a:r>
            <a:endParaRPr/>
          </a:p>
        </p:txBody>
      </p:sp>
      <p:sp>
        <p:nvSpPr>
          <p:cNvPr id="264" name="Google Shape;264;p24"/>
          <p:cNvSpPr txBox="1"/>
          <p:nvPr/>
        </p:nvSpPr>
        <p:spPr>
          <a:xfrm>
            <a:off x="571500" y="4349948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Chief IT Officer | Riyadh Medical Facility</a:t>
            </a:r>
            <a:endParaRPr/>
          </a:p>
        </p:txBody>
      </p:sp>
      <p:sp>
        <p:nvSpPr>
          <p:cNvPr id="265" name="Google Shape;265;p24"/>
          <p:cNvSpPr txBox="1"/>
          <p:nvPr/>
        </p:nvSpPr>
        <p:spPr>
          <a:xfrm>
            <a:off x="571500" y="4654748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cito@riyadhclinic.gov.sa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0" name="Google Shape;270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25"/>
          <p:cNvSpPr/>
          <p:nvPr/>
        </p:nvSpPr>
        <p:spPr>
          <a:xfrm>
            <a:off x="571500" y="2188964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5"/>
          <p:cNvSpPr/>
          <p:nvPr/>
        </p:nvSpPr>
        <p:spPr>
          <a:xfrm>
            <a:off x="571500" y="2973734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5"/>
          <p:cNvSpPr/>
          <p:nvPr/>
        </p:nvSpPr>
        <p:spPr>
          <a:xfrm>
            <a:off x="571500" y="3758505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5"/>
          <p:cNvSpPr/>
          <p:nvPr/>
        </p:nvSpPr>
        <p:spPr>
          <a:xfrm>
            <a:off x="571500" y="2964209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5"/>
          <p:cNvSpPr/>
          <p:nvPr/>
        </p:nvSpPr>
        <p:spPr>
          <a:xfrm>
            <a:off x="571500" y="2964209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5"/>
          <p:cNvSpPr/>
          <p:nvPr/>
        </p:nvSpPr>
        <p:spPr>
          <a:xfrm>
            <a:off x="571500" y="374898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5"/>
          <p:cNvSpPr/>
          <p:nvPr/>
        </p:nvSpPr>
        <p:spPr>
          <a:xfrm>
            <a:off x="571500" y="374898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5"/>
          <p:cNvSpPr/>
          <p:nvPr/>
        </p:nvSpPr>
        <p:spPr>
          <a:xfrm>
            <a:off x="571500" y="4533751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5"/>
          <p:cNvSpPr/>
          <p:nvPr/>
        </p:nvSpPr>
        <p:spPr>
          <a:xfrm>
            <a:off x="571500" y="4533751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80" name="Google Shape;280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3838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25"/>
          <p:cNvSpPr txBox="1"/>
          <p:nvPr/>
        </p:nvSpPr>
        <p:spPr>
          <a:xfrm>
            <a:off x="1666875" y="2331839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https://static.vecteezy.com/system/resources/previews/008/137/037/non_2x/blurred-background-blur-office-with-bokeh-light-background-banner-business-concept-photo.jpeg</a:t>
            </a:r>
            <a:endParaRPr/>
          </a:p>
        </p:txBody>
      </p:sp>
      <p:sp>
        <p:nvSpPr>
          <p:cNvPr id="282" name="Google Shape;282;p25"/>
          <p:cNvSpPr txBox="1"/>
          <p:nvPr/>
        </p:nvSpPr>
        <p:spPr>
          <a:xfrm>
            <a:off x="1666875" y="2577554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Roboto"/>
                <a:ea typeface="Roboto"/>
                <a:cs typeface="Roboto"/>
                <a:sym typeface="Roboto"/>
              </a:rPr>
              <a:t>www.vecteezy.com</a:t>
            </a:r>
            <a:endParaRPr/>
          </a:p>
        </p:txBody>
      </p:sp>
      <p:pic>
        <p:nvPicPr>
          <p:cNvPr descr="image.png" id="283" name="Google Shape;283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123158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25"/>
          <p:cNvSpPr txBox="1"/>
          <p:nvPr/>
        </p:nvSpPr>
        <p:spPr>
          <a:xfrm>
            <a:off x="1666875" y="3116609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https://cdn.vectorstock.com/i/500p/42/50/iso-27001-certified-seal-grunge-style-vector-33284250.jpg</a:t>
            </a:r>
            <a:endParaRPr/>
          </a:p>
        </p:txBody>
      </p:sp>
      <p:sp>
        <p:nvSpPr>
          <p:cNvPr id="285" name="Google Shape;285;p25"/>
          <p:cNvSpPr txBox="1"/>
          <p:nvPr/>
        </p:nvSpPr>
        <p:spPr>
          <a:xfrm>
            <a:off x="1666875" y="3362325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Roboto"/>
                <a:ea typeface="Roboto"/>
                <a:cs typeface="Roboto"/>
                <a:sym typeface="Roboto"/>
              </a:rPr>
              <a:t>www.vectorstock.com</a:t>
            </a:r>
            <a:endParaRPr/>
          </a:p>
        </p:txBody>
      </p:sp>
      <p:pic>
        <p:nvPicPr>
          <p:cNvPr descr="image.png" id="286" name="Google Shape;286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907928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25"/>
          <p:cNvSpPr txBox="1"/>
          <p:nvPr/>
        </p:nvSpPr>
        <p:spPr>
          <a:xfrm>
            <a:off x="1666875" y="3901380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https://www.nist.gov/sites/default/files/images/2019/11/12/frameworkiconswithtext.png</a:t>
            </a:r>
            <a:endParaRPr/>
          </a:p>
        </p:txBody>
      </p:sp>
      <p:sp>
        <p:nvSpPr>
          <p:cNvPr id="288" name="Google Shape;288;p25"/>
          <p:cNvSpPr txBox="1"/>
          <p:nvPr/>
        </p:nvSpPr>
        <p:spPr>
          <a:xfrm>
            <a:off x="1666875" y="4147095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Roboto"/>
                <a:ea typeface="Roboto"/>
                <a:cs typeface="Roboto"/>
                <a:sym typeface="Roboto"/>
              </a:rPr>
              <a:t>www.nist.gov</a:t>
            </a:r>
            <a:endParaRPr/>
          </a:p>
        </p:txBody>
      </p:sp>
      <p:pic>
        <p:nvPicPr>
          <p:cNvPr descr="image.png" id="289" name="Google Shape;289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791819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25"/>
          <p:cNvSpPr txBox="1"/>
          <p:nvPr/>
        </p:nvSpPr>
        <p:spPr>
          <a:xfrm>
            <a:off x="1666875" y="4686151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https://static.vecteezy.com/system/resources/previews/075/546/779/non_2x/futuristic-technology-blue-abstract-background-with-connected-lines-and-glowing-particles-for-digital-big-data-network-cyber-security-concept-and-futuristic-infrastructure-design-vector.jpg</a:t>
            </a:r>
            <a:endParaRPr/>
          </a:p>
        </p:txBody>
      </p:sp>
      <p:sp>
        <p:nvSpPr>
          <p:cNvPr id="291" name="Google Shape;291;p25"/>
          <p:cNvSpPr txBox="1"/>
          <p:nvPr/>
        </p:nvSpPr>
        <p:spPr>
          <a:xfrm>
            <a:off x="1666875" y="5129956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Roboto"/>
                <a:ea typeface="Roboto"/>
                <a:cs typeface="Roboto"/>
                <a:sym typeface="Roboto"/>
              </a:rPr>
              <a:t>www.vecteezy.com</a:t>
            </a:r>
            <a:endParaRPr/>
          </a:p>
        </p:txBody>
      </p:sp>
      <p:sp>
        <p:nvSpPr>
          <p:cNvPr id="292" name="Google Shape;292;p25"/>
          <p:cNvSpPr txBox="1"/>
          <p:nvPr/>
        </p:nvSpPr>
        <p:spPr>
          <a:xfrm>
            <a:off x="762000" y="571500"/>
            <a:ext cx="11401425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1F5F9"/>
                </a:solidFill>
                <a:latin typeface="Montserrat"/>
                <a:ea typeface="Montserrat"/>
                <a:cs typeface="Montserrat"/>
                <a:sym typeface="Montserrat"/>
              </a:rPr>
              <a:t>IMAGE SOURCES</a:t>
            </a:r>
            <a:endParaRPr/>
          </a:p>
        </p:txBody>
      </p:sp>
      <p:sp>
        <p:nvSpPr>
          <p:cNvPr id="293" name="Google Shape;293;p25"/>
          <p:cNvSpPr/>
          <p:nvPr/>
        </p:nvSpPr>
        <p:spPr>
          <a:xfrm>
            <a:off x="571500" y="571500"/>
            <a:ext cx="57150" cy="46672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